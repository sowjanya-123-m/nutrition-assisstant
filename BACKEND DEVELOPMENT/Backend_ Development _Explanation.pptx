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57" autoAdjust="0"/>
    <p:restoredTop sz="94660"/>
  </p:normalViewPr>
  <p:slideViewPr>
    <p:cSldViewPr>
      <p:cViewPr varScale="1">
        <p:scale>
          <a:sx n="74" d="100"/>
          <a:sy n="74" d="100"/>
        </p:scale>
        <p:origin x="-1012" y="-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FE66899-FC55-4C6E-9684-ABBBCEE9843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423F0E1-7CA7-4FF0-96F0-F2ABD2B7CD7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FE66899-FC55-4C6E-9684-ABBBCEE9843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423F0E1-7CA7-4FF0-96F0-F2ABD2B7CD7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FE66899-FC55-4C6E-9684-ABBBCEE9843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423F0E1-7CA7-4FF0-96F0-F2ABD2B7CD7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FE66899-FC55-4C6E-9684-ABBBCEE9843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423F0E1-7CA7-4FF0-96F0-F2ABD2B7CD7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FE66899-FC55-4C6E-9684-ABBBCEE9843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423F0E1-7CA7-4FF0-96F0-F2ABD2B7CD7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FE66899-FC55-4C6E-9684-ABBBCEE9843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423F0E1-7CA7-4FF0-96F0-F2ABD2B7CD7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FE66899-FC55-4C6E-9684-ABBBCEE9843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423F0E1-7CA7-4FF0-96F0-F2ABD2B7CD7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2FE66899-FC55-4C6E-9684-ABBBCEE9843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423F0E1-7CA7-4FF0-96F0-F2ABD2B7CD7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FE66899-FC55-4C6E-9684-ABBBCEE9843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423F0E1-7CA7-4FF0-96F0-F2ABD2B7CD7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FE66899-FC55-4C6E-9684-ABBBCEE9843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423F0E1-7CA7-4FF0-96F0-F2ABD2B7CD7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FE66899-FC55-4C6E-9684-ABBBCEE9843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423F0E1-7CA7-4FF0-96F0-F2ABD2B7CD7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FE66899-FC55-4C6E-9684-ABBBCEE9843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423F0E1-7CA7-4FF0-96F0-F2ABD2B7CD7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47801"/>
            <a:ext cx="7772400" cy="1142999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NUTRITION ASSISTANT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00400"/>
            <a:ext cx="6400800" cy="1828800"/>
          </a:xfrm>
          <a:blipFill>
            <a:blip r:embed="rId2" cstate="print"/>
            <a:tile tx="0" ty="0" sx="100000" sy="100000" flip="none" algn="tl"/>
          </a:blipFill>
        </p:spPr>
        <p:txBody>
          <a:bodyPr>
            <a:normAutofit fontScale="77500" lnSpcReduction="20000"/>
          </a:bodyPr>
          <a:lstStyle/>
          <a:p>
            <a:r>
              <a:rPr lang="en-US" sz="4600" b="1" dirty="0" smtClean="0">
                <a:solidFill>
                  <a:srgbClr val="0070C0"/>
                </a:solidFill>
              </a:rPr>
              <a:t>Backend Development and Explanation </a:t>
            </a:r>
          </a:p>
          <a:p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Built using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Node.js, Express.js, </a:t>
            </a:r>
            <a:r>
              <a:rPr lang="en-US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MongoDB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, Mongoose, JWT Authentication, </a:t>
            </a:r>
            <a:r>
              <a:rPr lang="en-US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bcryptjs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dotenv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, and </a:t>
            </a:r>
            <a:r>
              <a:rPr lang="en-US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cors</a:t>
            </a:r>
            <a:endParaRPr lang="en-US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400" dirty="0" smtClean="0">
                <a:solidFill>
                  <a:schemeClr val="accent4"/>
                </a:solidFill>
              </a:rPr>
              <a:t>Backend Overview and Technology Stack</a:t>
            </a:r>
          </a:p>
          <a:p>
            <a:pPr>
              <a:buNone/>
            </a:pPr>
            <a:r>
              <a:rPr lang="en-US" sz="2400" dirty="0" smtClean="0">
                <a:solidFill>
                  <a:schemeClr val="accent4"/>
                </a:solidFill>
              </a:rPr>
              <a:t>2. Folder Structure and Modular Architecture</a:t>
            </a:r>
          </a:p>
          <a:p>
            <a:pPr>
              <a:buNone/>
            </a:pPr>
            <a:r>
              <a:rPr lang="en-US" sz="2400" dirty="0" smtClean="0">
                <a:solidFill>
                  <a:schemeClr val="accent4"/>
                </a:solidFill>
              </a:rPr>
              <a:t>3. Controllers, Models, Routes, and Middleware</a:t>
            </a:r>
          </a:p>
          <a:p>
            <a:pPr>
              <a:buNone/>
            </a:pPr>
            <a:r>
              <a:rPr lang="en-US" sz="2400" dirty="0" smtClean="0">
                <a:solidFill>
                  <a:schemeClr val="accent4"/>
                </a:solidFill>
              </a:rPr>
              <a:t>4. API Flow, Authentication, and Authorization</a:t>
            </a:r>
          </a:p>
          <a:p>
            <a:pPr>
              <a:buNone/>
            </a:pPr>
            <a:r>
              <a:rPr lang="en-US" sz="2400" dirty="0" smtClean="0">
                <a:solidFill>
                  <a:schemeClr val="accent4"/>
                </a:solidFill>
              </a:rPr>
              <a:t>5. Database Design and </a:t>
            </a:r>
            <a:r>
              <a:rPr lang="en-US" sz="2400" dirty="0" err="1" smtClean="0">
                <a:solidFill>
                  <a:schemeClr val="accent4"/>
                </a:solidFill>
              </a:rPr>
              <a:t>MongoDB</a:t>
            </a:r>
            <a:r>
              <a:rPr lang="en-US" sz="2400" dirty="0" smtClean="0">
                <a:solidFill>
                  <a:schemeClr val="accent4"/>
                </a:solidFill>
              </a:rPr>
              <a:t> Usage</a:t>
            </a:r>
          </a:p>
          <a:p>
            <a:pPr>
              <a:buNone/>
            </a:pPr>
            <a:r>
              <a:rPr lang="en-US" sz="2400" dirty="0" smtClean="0">
                <a:solidFill>
                  <a:schemeClr val="accent4"/>
                </a:solidFill>
              </a:rPr>
              <a:t>6. Advantages of This Backend Structure</a:t>
            </a:r>
          </a:p>
          <a:p>
            <a:pPr>
              <a:buNone/>
            </a:pPr>
            <a:r>
              <a:rPr lang="en-US" sz="2400" dirty="0" smtClean="0">
                <a:solidFill>
                  <a:schemeClr val="accent4"/>
                </a:solidFill>
              </a:rPr>
              <a:t>7. Conclusion and Future Scope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Presentation Outline</a:t>
            </a:r>
            <a:b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7030A0"/>
                </a:solidFill>
              </a:rPr>
              <a:t>The backend of </a:t>
            </a:r>
            <a:r>
              <a:rPr lang="en-US" sz="2400" b="1" dirty="0" smtClean="0">
                <a:solidFill>
                  <a:srgbClr val="7030A0"/>
                </a:solidFill>
              </a:rPr>
              <a:t>Nutrition Assistant</a:t>
            </a:r>
            <a:r>
              <a:rPr lang="en-US" sz="2400" dirty="0" smtClean="0">
                <a:solidFill>
                  <a:srgbClr val="7030A0"/>
                </a:solidFill>
              </a:rPr>
              <a:t> is built using the </a:t>
            </a:r>
            <a:r>
              <a:rPr lang="en-US" sz="2400" b="1" dirty="0" smtClean="0">
                <a:solidFill>
                  <a:srgbClr val="7030A0"/>
                </a:solidFill>
              </a:rPr>
              <a:t>MERN stack</a:t>
            </a:r>
            <a:r>
              <a:rPr lang="en-US" sz="2400" dirty="0" smtClean="0">
                <a:solidFill>
                  <a:srgbClr val="7030A0"/>
                </a:solidFill>
              </a:rPr>
              <a:t> technologies. </a:t>
            </a:r>
          </a:p>
          <a:p>
            <a:r>
              <a:rPr lang="en-US" sz="2400" dirty="0" smtClean="0">
                <a:solidFill>
                  <a:srgbClr val="7030A0"/>
                </a:solidFill>
              </a:rPr>
              <a:t>It handles all </a:t>
            </a:r>
            <a:r>
              <a:rPr lang="en-US" sz="2400" b="1" dirty="0" smtClean="0">
                <a:solidFill>
                  <a:srgbClr val="7030A0"/>
                </a:solidFill>
              </a:rPr>
              <a:t>business logic</a:t>
            </a:r>
            <a:r>
              <a:rPr lang="en-US" sz="2400" dirty="0" smtClean="0">
                <a:solidFill>
                  <a:srgbClr val="7030A0"/>
                </a:solidFill>
              </a:rPr>
              <a:t>, </a:t>
            </a:r>
            <a:r>
              <a:rPr lang="en-US" sz="2400" b="1" dirty="0" smtClean="0">
                <a:solidFill>
                  <a:srgbClr val="7030A0"/>
                </a:solidFill>
              </a:rPr>
              <a:t>user authentication</a:t>
            </a:r>
            <a:r>
              <a:rPr lang="en-US" sz="2400" dirty="0" smtClean="0">
                <a:solidFill>
                  <a:srgbClr val="7030A0"/>
                </a:solidFill>
              </a:rPr>
              <a:t>, </a:t>
            </a:r>
            <a:r>
              <a:rPr lang="en-US" sz="2400" b="1" dirty="0" smtClean="0">
                <a:solidFill>
                  <a:srgbClr val="7030A0"/>
                </a:solidFill>
              </a:rPr>
              <a:t>nutrition data management</a:t>
            </a:r>
            <a:r>
              <a:rPr lang="en-US" sz="2400" dirty="0" smtClean="0">
                <a:solidFill>
                  <a:srgbClr val="7030A0"/>
                </a:solidFill>
              </a:rPr>
              <a:t>, and </a:t>
            </a:r>
            <a:r>
              <a:rPr lang="en-US" sz="2400" b="1" dirty="0" smtClean="0">
                <a:solidFill>
                  <a:srgbClr val="7030A0"/>
                </a:solidFill>
              </a:rPr>
              <a:t>AI‑</a:t>
            </a:r>
            <a:r>
              <a:rPr lang="en-US" sz="2400" b="1" dirty="0" err="1" smtClean="0">
                <a:solidFill>
                  <a:srgbClr val="7030A0"/>
                </a:solidFill>
              </a:rPr>
              <a:t>driven</a:t>
            </a:r>
            <a:r>
              <a:rPr lang="en-US" sz="2400" b="1" dirty="0" smtClean="0">
                <a:solidFill>
                  <a:srgbClr val="7030A0"/>
                </a:solidFill>
              </a:rPr>
              <a:t> meal tracking</a:t>
            </a:r>
            <a:r>
              <a:rPr lang="en-US" sz="2400" dirty="0" smtClean="0">
                <a:solidFill>
                  <a:srgbClr val="7030A0"/>
                </a:solidFill>
              </a:rPr>
              <a:t>.</a:t>
            </a:r>
          </a:p>
          <a:p>
            <a:r>
              <a:rPr lang="en-US" sz="2400" dirty="0" smtClean="0">
                <a:solidFill>
                  <a:srgbClr val="7030A0"/>
                </a:solidFill>
              </a:rPr>
              <a:t> It connects the React frontend with the </a:t>
            </a:r>
            <a:r>
              <a:rPr lang="en-US" sz="2400" dirty="0" err="1" smtClean="0">
                <a:solidFill>
                  <a:srgbClr val="7030A0"/>
                </a:solidFill>
              </a:rPr>
              <a:t>MongoDB</a:t>
            </a:r>
            <a:r>
              <a:rPr lang="en-US" sz="2400" dirty="0" smtClean="0">
                <a:solidFill>
                  <a:srgbClr val="7030A0"/>
                </a:solidFill>
              </a:rPr>
              <a:t> database to store user profiles, meal logs, and personalized nutrition plans. </a:t>
            </a:r>
          </a:p>
          <a:p>
            <a:r>
              <a:rPr lang="en-US" sz="2400" dirty="0" smtClean="0">
                <a:solidFill>
                  <a:srgbClr val="7030A0"/>
                </a:solidFill>
              </a:rPr>
              <a:t>The architecture is </a:t>
            </a:r>
            <a:r>
              <a:rPr lang="en-US" sz="2400" b="1" dirty="0" smtClean="0">
                <a:solidFill>
                  <a:srgbClr val="7030A0"/>
                </a:solidFill>
              </a:rPr>
              <a:t>modular</a:t>
            </a:r>
            <a:r>
              <a:rPr lang="en-US" sz="2400" dirty="0" smtClean="0">
                <a:solidFill>
                  <a:srgbClr val="7030A0"/>
                </a:solidFill>
              </a:rPr>
              <a:t>, ensuring scalability and maintainability.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BACKEND OVERVIEW</a:t>
            </a:r>
            <a:endParaRPr lang="en-US" sz="4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481138"/>
          <a:ext cx="8229600" cy="495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Node.js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JavaScript runtime for server‑side logic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Express.js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Framework for routing, middleware, and REST APIs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MongoDB Atlas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Cloud </a:t>
                      </a:r>
                      <a:r>
                        <a:rPr lang="en-US" dirty="0" err="1"/>
                        <a:t>NoSQL</a:t>
                      </a:r>
                      <a:r>
                        <a:rPr lang="en-US" dirty="0"/>
                        <a:t> database for storing user and nutrition data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Mongoose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ODM for defining schemas and interacting with MongoDB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JWT (jsonwebtoken)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Secure token‑based authentication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bcryptjs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Password hashing for secure credential storage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dotenv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Environment variable management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cors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Enables cross‑</a:t>
                      </a:r>
                      <a:r>
                        <a:rPr lang="en-US" dirty="0" err="1"/>
                        <a:t>origin</a:t>
                      </a:r>
                      <a:r>
                        <a:rPr lang="en-US" dirty="0"/>
                        <a:t> requests between client and server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Technology Stack</a:t>
            </a:r>
            <a:endParaRPr lang="en-US" sz="4000" dirty="0">
              <a:solidFill>
                <a:schemeClr val="accent5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 smtClean="0">
                <a:solidFill>
                  <a:schemeClr val="accent4"/>
                </a:solidFill>
              </a:rPr>
              <a:t>NutritionAssistant</a:t>
            </a:r>
            <a:r>
              <a:rPr lang="en-US" dirty="0" smtClean="0">
                <a:solidFill>
                  <a:schemeClr val="accent4"/>
                </a:solidFill>
              </a:rPr>
              <a:t>/</a:t>
            </a:r>
          </a:p>
          <a:p>
            <a:pPr>
              <a:buNone/>
            </a:pPr>
            <a:r>
              <a:rPr lang="en-US" dirty="0" smtClean="0">
                <a:solidFill>
                  <a:schemeClr val="accent4"/>
                </a:solidFill>
              </a:rPr>
              <a:t>     └── Server/</a:t>
            </a:r>
          </a:p>
          <a:p>
            <a:pPr>
              <a:buNone/>
            </a:pPr>
            <a:r>
              <a:rPr lang="en-US" dirty="0" smtClean="0">
                <a:solidFill>
                  <a:schemeClr val="accent4"/>
                </a:solidFill>
              </a:rPr>
              <a:t>      ├── </a:t>
            </a:r>
            <a:r>
              <a:rPr lang="en-US" dirty="0" err="1" smtClean="0">
                <a:solidFill>
                  <a:schemeClr val="accent4"/>
                </a:solidFill>
              </a:rPr>
              <a:t>config</a:t>
            </a:r>
            <a:r>
              <a:rPr lang="en-US" dirty="0" smtClean="0">
                <a:solidFill>
                  <a:schemeClr val="accent4"/>
                </a:solidFill>
              </a:rPr>
              <a:t>/          # Database connection setup</a:t>
            </a:r>
          </a:p>
          <a:p>
            <a:pPr>
              <a:buNone/>
            </a:pPr>
            <a:r>
              <a:rPr lang="en-US" dirty="0" smtClean="0">
                <a:solidFill>
                  <a:schemeClr val="accent4"/>
                </a:solidFill>
              </a:rPr>
              <a:t>      ├── controllers/     # Business logic (users, meals, plans)</a:t>
            </a:r>
          </a:p>
          <a:p>
            <a:pPr>
              <a:buNone/>
            </a:pPr>
            <a:r>
              <a:rPr lang="en-US" dirty="0" smtClean="0">
                <a:solidFill>
                  <a:schemeClr val="accent4"/>
                </a:solidFill>
              </a:rPr>
              <a:t>      ├── </a:t>
            </a:r>
            <a:r>
              <a:rPr lang="en-US" dirty="0" err="1" smtClean="0">
                <a:solidFill>
                  <a:schemeClr val="accent4"/>
                </a:solidFill>
              </a:rPr>
              <a:t>middlewares</a:t>
            </a:r>
            <a:r>
              <a:rPr lang="en-US" dirty="0" smtClean="0">
                <a:solidFill>
                  <a:schemeClr val="accent4"/>
                </a:solidFill>
              </a:rPr>
              <a:t>/     # JWT verification and role protection</a:t>
            </a:r>
          </a:p>
          <a:p>
            <a:pPr>
              <a:buNone/>
            </a:pPr>
            <a:r>
              <a:rPr lang="en-US" dirty="0" smtClean="0">
                <a:solidFill>
                  <a:schemeClr val="accent4"/>
                </a:solidFill>
              </a:rPr>
              <a:t>      ├── models/          # Mongoose schemas (User, Meal, Plan)</a:t>
            </a:r>
          </a:p>
          <a:p>
            <a:pPr>
              <a:buNone/>
            </a:pPr>
            <a:r>
              <a:rPr lang="en-US" dirty="0" smtClean="0">
                <a:solidFill>
                  <a:schemeClr val="accent4"/>
                </a:solidFill>
              </a:rPr>
              <a:t>      ├── routes/          # API endpoints</a:t>
            </a:r>
          </a:p>
          <a:p>
            <a:pPr>
              <a:buNone/>
            </a:pPr>
            <a:r>
              <a:rPr lang="en-US" dirty="0" smtClean="0">
                <a:solidFill>
                  <a:schemeClr val="accent4"/>
                </a:solidFill>
              </a:rPr>
              <a:t>      ├── </a:t>
            </a:r>
            <a:r>
              <a:rPr lang="en-US" dirty="0" err="1" smtClean="0">
                <a:solidFill>
                  <a:schemeClr val="accent4"/>
                </a:solidFill>
              </a:rPr>
              <a:t>utils</a:t>
            </a:r>
            <a:r>
              <a:rPr lang="en-US" dirty="0" smtClean="0">
                <a:solidFill>
                  <a:schemeClr val="accent4"/>
                </a:solidFill>
              </a:rPr>
              <a:t>/           # Helper functions (calculations, validation)</a:t>
            </a:r>
          </a:p>
          <a:p>
            <a:pPr>
              <a:buNone/>
            </a:pPr>
            <a:r>
              <a:rPr lang="en-US" dirty="0" smtClean="0">
                <a:solidFill>
                  <a:schemeClr val="accent4"/>
                </a:solidFill>
              </a:rPr>
              <a:t>      └── server.js        # Entry point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Folder Structure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chemeClr val="accent4"/>
                </a:solidFill>
              </a:rPr>
              <a:t>Frontend → Request → Route → Controller → Model → </a:t>
            </a:r>
            <a:r>
              <a:rPr lang="en-US" b="1" dirty="0" err="1" smtClean="0">
                <a:solidFill>
                  <a:schemeClr val="accent4"/>
                </a:solidFill>
              </a:rPr>
              <a:t>MongoDB</a:t>
            </a:r>
            <a:r>
              <a:rPr lang="en-US" b="1" dirty="0" smtClean="0">
                <a:solidFill>
                  <a:schemeClr val="accent4"/>
                </a:solidFill>
              </a:rPr>
              <a:t> → Response</a:t>
            </a:r>
            <a:endParaRPr lang="en-US" dirty="0" smtClean="0">
              <a:solidFill>
                <a:schemeClr val="accent4"/>
              </a:solidFill>
            </a:endParaRPr>
          </a:p>
          <a:p>
            <a:r>
              <a:rPr lang="en-US" dirty="0" smtClean="0">
                <a:solidFill>
                  <a:schemeClr val="accent4"/>
                </a:solidFill>
              </a:rPr>
              <a:t>Each request follows this pipeline:</a:t>
            </a:r>
          </a:p>
          <a:p>
            <a:r>
              <a:rPr lang="en-US" b="1" dirty="0" smtClean="0">
                <a:solidFill>
                  <a:schemeClr val="accent4"/>
                </a:solidFill>
              </a:rPr>
              <a:t>Route:</a:t>
            </a:r>
            <a:r>
              <a:rPr lang="en-US" dirty="0" smtClean="0">
                <a:solidFill>
                  <a:schemeClr val="accent4"/>
                </a:solidFill>
              </a:rPr>
              <a:t> Defines endpoint and method</a:t>
            </a:r>
          </a:p>
          <a:p>
            <a:r>
              <a:rPr lang="en-US" b="1" dirty="0" smtClean="0">
                <a:solidFill>
                  <a:schemeClr val="accent4"/>
                </a:solidFill>
              </a:rPr>
              <a:t>Controller:</a:t>
            </a:r>
            <a:r>
              <a:rPr lang="en-US" dirty="0" smtClean="0">
                <a:solidFill>
                  <a:schemeClr val="accent4"/>
                </a:solidFill>
              </a:rPr>
              <a:t> Processes logic and interacts with models</a:t>
            </a:r>
          </a:p>
          <a:p>
            <a:r>
              <a:rPr lang="en-US" b="1" dirty="0" smtClean="0">
                <a:solidFill>
                  <a:schemeClr val="accent4"/>
                </a:solidFill>
              </a:rPr>
              <a:t>Model:</a:t>
            </a:r>
            <a:r>
              <a:rPr lang="en-US" dirty="0" smtClean="0">
                <a:solidFill>
                  <a:schemeClr val="accent4"/>
                </a:solidFill>
              </a:rPr>
              <a:t> Executes database queries</a:t>
            </a:r>
          </a:p>
          <a:p>
            <a:r>
              <a:rPr lang="en-US" b="1" dirty="0" smtClean="0">
                <a:solidFill>
                  <a:schemeClr val="accent4"/>
                </a:solidFill>
              </a:rPr>
              <a:t>Response:</a:t>
            </a:r>
            <a:r>
              <a:rPr lang="en-US" dirty="0" smtClean="0">
                <a:solidFill>
                  <a:schemeClr val="accent4"/>
                </a:solidFill>
              </a:rPr>
              <a:t> Returns structured JSON to the client</a:t>
            </a:r>
          </a:p>
          <a:p>
            <a:r>
              <a:rPr lang="en-US" dirty="0" smtClean="0">
                <a:solidFill>
                  <a:schemeClr val="accent4"/>
                </a:solidFill>
              </a:rPr>
              <a:t>This separation ensures clarity and easy debugging.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sz="4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Backend Architecture Flow</a:t>
            </a:r>
            <a:endParaRPr lang="en-US" sz="4000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4"/>
                </a:solidFill>
              </a:rPr>
              <a:t>userController.js</a:t>
            </a:r>
            <a:r>
              <a:rPr lang="en-US" dirty="0" smtClean="0">
                <a:solidFill>
                  <a:schemeClr val="accent4"/>
                </a:solidFill>
              </a:rPr>
              <a:t> → Handles registration, login, and profile updates</a:t>
            </a:r>
          </a:p>
          <a:p>
            <a:r>
              <a:rPr lang="en-US" b="1" dirty="0" smtClean="0">
                <a:solidFill>
                  <a:schemeClr val="accent4"/>
                </a:solidFill>
              </a:rPr>
              <a:t>mealController.js</a:t>
            </a:r>
            <a:r>
              <a:rPr lang="en-US" dirty="0" smtClean="0">
                <a:solidFill>
                  <a:schemeClr val="accent4"/>
                </a:solidFill>
              </a:rPr>
              <a:t> → Manages meal logging, calorie estimation, and nutrient tracking</a:t>
            </a:r>
          </a:p>
          <a:p>
            <a:r>
              <a:rPr lang="en-US" b="1" dirty="0" smtClean="0">
                <a:solidFill>
                  <a:schemeClr val="accent4"/>
                </a:solidFill>
              </a:rPr>
              <a:t>planController.js</a:t>
            </a:r>
            <a:r>
              <a:rPr lang="en-US" dirty="0" smtClean="0">
                <a:solidFill>
                  <a:schemeClr val="accent4"/>
                </a:solidFill>
              </a:rPr>
              <a:t> → Generates personalized diet plans using user metrics</a:t>
            </a:r>
          </a:p>
          <a:p>
            <a:r>
              <a:rPr lang="en-US" b="1" dirty="0" smtClean="0">
                <a:solidFill>
                  <a:schemeClr val="accent4"/>
                </a:solidFill>
              </a:rPr>
              <a:t>adminController.js</a:t>
            </a:r>
            <a:r>
              <a:rPr lang="en-US" dirty="0" smtClean="0">
                <a:solidFill>
                  <a:schemeClr val="accent4"/>
                </a:solidFill>
              </a:rPr>
              <a:t> → Manages users, plans, and system analytics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sz="4000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Controllers Layer</a:t>
            </a:r>
            <a:endParaRPr lang="en-US" dirty="0">
              <a:solidFill>
                <a:schemeClr val="accent5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4"/>
                </a:solidFill>
              </a:rPr>
              <a:t>authMiddleware.js</a:t>
            </a:r>
            <a:r>
              <a:rPr lang="en-US" dirty="0" smtClean="0">
                <a:solidFill>
                  <a:schemeClr val="accent4"/>
                </a:solidFill>
              </a:rPr>
              <a:t> → Verifies JWT tokens for protected routes</a:t>
            </a:r>
          </a:p>
          <a:p>
            <a:r>
              <a:rPr lang="en-US" b="1" dirty="0" smtClean="0">
                <a:solidFill>
                  <a:schemeClr val="accent4"/>
                </a:solidFill>
              </a:rPr>
              <a:t>roleMiddleware.js</a:t>
            </a:r>
            <a:r>
              <a:rPr lang="en-US" dirty="0" smtClean="0">
                <a:solidFill>
                  <a:schemeClr val="accent4"/>
                </a:solidFill>
              </a:rPr>
              <a:t> → Restricts access based on user roles (User, Admin, Clinical Admin)</a:t>
            </a:r>
          </a:p>
          <a:p>
            <a:r>
              <a:rPr lang="en-US" b="1" dirty="0" smtClean="0">
                <a:solidFill>
                  <a:schemeClr val="accent4"/>
                </a:solidFill>
              </a:rPr>
              <a:t>errorHandler.js</a:t>
            </a:r>
            <a:r>
              <a:rPr lang="en-US" dirty="0" smtClean="0">
                <a:solidFill>
                  <a:schemeClr val="accent4"/>
                </a:solidFill>
              </a:rPr>
              <a:t> → Centralized error management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Middleware Layer</a:t>
            </a:r>
            <a:endParaRPr lang="en-US" sz="4000" dirty="0">
              <a:solidFill>
                <a:schemeClr val="accent5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481138"/>
          <a:ext cx="8229600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User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Stores name, email, password, age, gender, height, weight, activity level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Meal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Logs food items, calories, macros, and timestamps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Plan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Stores AI‑generated nutrition blueprints and goals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Admin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Manages system‑</a:t>
                      </a:r>
                      <a:r>
                        <a:rPr lang="en-US" dirty="0" err="1"/>
                        <a:t>wide</a:t>
                      </a:r>
                      <a:r>
                        <a:rPr lang="en-US" dirty="0"/>
                        <a:t> data and analytics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Models Layer</a:t>
            </a:r>
            <a:endParaRPr lang="en-US" sz="4000" dirty="0">
              <a:solidFill>
                <a:schemeClr val="accent5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User APIs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chemeClr val="accent4"/>
                </a:solidFill>
              </a:rPr>
              <a:t>POST /</a:t>
            </a:r>
            <a:r>
              <a:rPr lang="en-US" dirty="0" err="1" smtClean="0">
                <a:solidFill>
                  <a:schemeClr val="accent4"/>
                </a:solidFill>
              </a:rPr>
              <a:t>api</a:t>
            </a:r>
            <a:r>
              <a:rPr lang="en-US" dirty="0" smtClean="0">
                <a:solidFill>
                  <a:schemeClr val="accent4"/>
                </a:solidFill>
              </a:rPr>
              <a:t>/users/register</a:t>
            </a:r>
          </a:p>
          <a:p>
            <a:pPr>
              <a:buNone/>
            </a:pPr>
            <a:r>
              <a:rPr lang="en-US" dirty="0" smtClean="0">
                <a:solidFill>
                  <a:schemeClr val="accent4"/>
                </a:solidFill>
              </a:rPr>
              <a:t>POST /</a:t>
            </a:r>
            <a:r>
              <a:rPr lang="en-US" dirty="0" err="1" smtClean="0">
                <a:solidFill>
                  <a:schemeClr val="accent4"/>
                </a:solidFill>
              </a:rPr>
              <a:t>api</a:t>
            </a:r>
            <a:r>
              <a:rPr lang="en-US" dirty="0" smtClean="0">
                <a:solidFill>
                  <a:schemeClr val="accent4"/>
                </a:solidFill>
              </a:rPr>
              <a:t>/users/login</a:t>
            </a:r>
          </a:p>
          <a:p>
            <a:pPr>
              <a:buNone/>
            </a:pPr>
            <a:r>
              <a:rPr lang="en-US" dirty="0" smtClean="0">
                <a:solidFill>
                  <a:schemeClr val="accent4"/>
                </a:solidFill>
              </a:rPr>
              <a:t>GET  /</a:t>
            </a:r>
            <a:r>
              <a:rPr lang="en-US" dirty="0" err="1" smtClean="0">
                <a:solidFill>
                  <a:schemeClr val="accent4"/>
                </a:solidFill>
              </a:rPr>
              <a:t>api</a:t>
            </a:r>
            <a:r>
              <a:rPr lang="en-US" dirty="0" smtClean="0">
                <a:solidFill>
                  <a:schemeClr val="accent4"/>
                </a:solidFill>
              </a:rPr>
              <a:t>/users/profile</a:t>
            </a:r>
          </a:p>
          <a:p>
            <a:pPr>
              <a:buNone/>
            </a:pPr>
            <a:r>
              <a:rPr lang="en-US" dirty="0" smtClean="0">
                <a:solidFill>
                  <a:schemeClr val="accent4"/>
                </a:solidFill>
              </a:rPr>
              <a:t>POST /</a:t>
            </a:r>
            <a:r>
              <a:rPr lang="en-US" dirty="0" err="1" smtClean="0">
                <a:solidFill>
                  <a:schemeClr val="accent4"/>
                </a:solidFill>
              </a:rPr>
              <a:t>api</a:t>
            </a:r>
            <a:r>
              <a:rPr lang="en-US" dirty="0" smtClean="0">
                <a:solidFill>
                  <a:schemeClr val="accent4"/>
                </a:solidFill>
              </a:rPr>
              <a:t>/users/meals</a:t>
            </a:r>
          </a:p>
          <a:p>
            <a:pPr>
              <a:buNone/>
            </a:pPr>
            <a:r>
              <a:rPr lang="en-US" dirty="0" smtClean="0">
                <a:solidFill>
                  <a:schemeClr val="accent4"/>
                </a:solidFill>
              </a:rPr>
              <a:t>GET  /</a:t>
            </a:r>
            <a:r>
              <a:rPr lang="en-US" dirty="0" err="1" smtClean="0">
                <a:solidFill>
                  <a:schemeClr val="accent4"/>
                </a:solidFill>
              </a:rPr>
              <a:t>api</a:t>
            </a:r>
            <a:r>
              <a:rPr lang="en-US" dirty="0" smtClean="0">
                <a:solidFill>
                  <a:schemeClr val="accent4"/>
                </a:solidFill>
              </a:rPr>
              <a:t>/users/plans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00B0F0"/>
                </a:solidFill>
              </a:rPr>
              <a:t>Admin APIs</a:t>
            </a:r>
          </a:p>
          <a:p>
            <a:pPr>
              <a:buNone/>
            </a:pPr>
            <a:r>
              <a:rPr lang="en-US" dirty="0" smtClean="0">
                <a:solidFill>
                  <a:schemeClr val="accent4"/>
                </a:solidFill>
              </a:rPr>
              <a:t>GET  /</a:t>
            </a:r>
            <a:r>
              <a:rPr lang="en-US" dirty="0" err="1" smtClean="0">
                <a:solidFill>
                  <a:schemeClr val="accent4"/>
                </a:solidFill>
              </a:rPr>
              <a:t>api</a:t>
            </a:r>
            <a:r>
              <a:rPr lang="en-US" dirty="0" smtClean="0">
                <a:solidFill>
                  <a:schemeClr val="accent4"/>
                </a:solidFill>
              </a:rPr>
              <a:t>/admin/users</a:t>
            </a:r>
          </a:p>
          <a:p>
            <a:pPr>
              <a:buNone/>
            </a:pPr>
            <a:r>
              <a:rPr lang="en-US" dirty="0" smtClean="0">
                <a:solidFill>
                  <a:schemeClr val="accent4"/>
                </a:solidFill>
              </a:rPr>
              <a:t>GET  /</a:t>
            </a:r>
            <a:r>
              <a:rPr lang="en-US" dirty="0" err="1" smtClean="0">
                <a:solidFill>
                  <a:schemeClr val="accent4"/>
                </a:solidFill>
              </a:rPr>
              <a:t>api</a:t>
            </a:r>
            <a:r>
              <a:rPr lang="en-US" dirty="0" smtClean="0">
                <a:solidFill>
                  <a:schemeClr val="accent4"/>
                </a:solidFill>
              </a:rPr>
              <a:t>/admin/plans</a:t>
            </a:r>
          </a:p>
          <a:p>
            <a:pPr>
              <a:buNone/>
            </a:pPr>
            <a:r>
              <a:rPr lang="en-US" dirty="0" smtClean="0">
                <a:solidFill>
                  <a:schemeClr val="accent4"/>
                </a:solidFill>
              </a:rPr>
              <a:t>DELETE /</a:t>
            </a:r>
            <a:r>
              <a:rPr lang="en-US" dirty="0" err="1" smtClean="0">
                <a:solidFill>
                  <a:schemeClr val="accent4"/>
                </a:solidFill>
              </a:rPr>
              <a:t>api</a:t>
            </a:r>
            <a:r>
              <a:rPr lang="en-US" dirty="0" smtClean="0">
                <a:solidFill>
                  <a:schemeClr val="accent4"/>
                </a:solidFill>
              </a:rPr>
              <a:t>/admin/user/:id</a:t>
            </a:r>
          </a:p>
          <a:p>
            <a:pPr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API Endpoints Overview</a:t>
            </a:r>
            <a:endParaRPr lang="en-US" dirty="0">
              <a:solidFill>
                <a:schemeClr val="accent5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solidFill>
                  <a:schemeClr val="accent4"/>
                </a:solidFill>
              </a:rPr>
              <a:t>User registers → password hashed using </a:t>
            </a:r>
            <a:r>
              <a:rPr lang="en-US" sz="2800" b="1" dirty="0" err="1" smtClean="0">
                <a:solidFill>
                  <a:schemeClr val="accent4"/>
                </a:solidFill>
              </a:rPr>
              <a:t>bcryptjs</a:t>
            </a:r>
            <a:endParaRPr lang="en-US" sz="2800" dirty="0" smtClean="0">
              <a:solidFill>
                <a:schemeClr val="accent4"/>
              </a:solidFill>
            </a:endParaRPr>
          </a:p>
          <a:p>
            <a:r>
              <a:rPr lang="en-US" sz="2800" dirty="0" smtClean="0">
                <a:solidFill>
                  <a:schemeClr val="accent4"/>
                </a:solidFill>
              </a:rPr>
              <a:t>User logs in → credentials verified</a:t>
            </a:r>
          </a:p>
          <a:p>
            <a:r>
              <a:rPr lang="en-US" sz="2800" dirty="0" smtClean="0">
                <a:solidFill>
                  <a:schemeClr val="accent4"/>
                </a:solidFill>
              </a:rPr>
              <a:t>JWT token generated and sent to client</a:t>
            </a:r>
          </a:p>
          <a:p>
            <a:r>
              <a:rPr lang="en-US" sz="2800" dirty="0" smtClean="0">
                <a:solidFill>
                  <a:schemeClr val="accent4"/>
                </a:solidFill>
              </a:rPr>
              <a:t>Client includes token in protected requests</a:t>
            </a:r>
          </a:p>
          <a:p>
            <a:r>
              <a:rPr lang="en-US" sz="2800" dirty="0" smtClean="0">
                <a:solidFill>
                  <a:schemeClr val="accent4"/>
                </a:solidFill>
              </a:rPr>
              <a:t>Middleware verifies token → grants access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 Authentication Flow (JWT + </a:t>
            </a:r>
            <a:r>
              <a:rPr lang="en-US" dirty="0" err="1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bcryptjs</a:t>
            </a:r>
            <a:r>
              <a:rPr lang="en-US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>
              <a:solidFill>
                <a:schemeClr val="accent5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6200" dirty="0" smtClean="0">
                <a:solidFill>
                  <a:srgbClr val="7030A0"/>
                </a:solidFill>
              </a:rPr>
              <a:t>User</a:t>
            </a:r>
          </a:p>
          <a:p>
            <a:r>
              <a:rPr lang="en-US" sz="6200" dirty="0" smtClean="0">
                <a:solidFill>
                  <a:srgbClr val="7030A0"/>
                </a:solidFill>
              </a:rPr>
              <a:t> ├── name</a:t>
            </a:r>
          </a:p>
          <a:p>
            <a:r>
              <a:rPr lang="en-US" sz="6200" dirty="0" smtClean="0">
                <a:solidFill>
                  <a:srgbClr val="7030A0"/>
                </a:solidFill>
              </a:rPr>
              <a:t> ├── email</a:t>
            </a:r>
          </a:p>
          <a:p>
            <a:r>
              <a:rPr lang="en-US" sz="6200" dirty="0" smtClean="0">
                <a:solidFill>
                  <a:srgbClr val="7030A0"/>
                </a:solidFill>
              </a:rPr>
              <a:t> ├── password</a:t>
            </a:r>
          </a:p>
          <a:p>
            <a:r>
              <a:rPr lang="en-US" sz="6200" dirty="0" smtClean="0">
                <a:solidFill>
                  <a:srgbClr val="7030A0"/>
                </a:solidFill>
              </a:rPr>
              <a:t> ├── metrics { age, height, weight, </a:t>
            </a:r>
            <a:r>
              <a:rPr lang="en-US" sz="6200" dirty="0" err="1" smtClean="0">
                <a:solidFill>
                  <a:srgbClr val="7030A0"/>
                </a:solidFill>
              </a:rPr>
              <a:t>activityLevel</a:t>
            </a:r>
            <a:r>
              <a:rPr lang="en-US" sz="6200" dirty="0" smtClean="0">
                <a:solidFill>
                  <a:srgbClr val="7030A0"/>
                </a:solidFill>
              </a:rPr>
              <a:t> }</a:t>
            </a:r>
          </a:p>
          <a:p>
            <a:r>
              <a:rPr lang="en-US" sz="6200" dirty="0" smtClean="0">
                <a:solidFill>
                  <a:srgbClr val="7030A0"/>
                </a:solidFill>
              </a:rPr>
              <a:t> └── plans[] → references Plan</a:t>
            </a:r>
          </a:p>
          <a:p>
            <a:endParaRPr lang="en-US" sz="6200" dirty="0" smtClean="0">
              <a:solidFill>
                <a:srgbClr val="7030A0"/>
              </a:solidFill>
            </a:endParaRPr>
          </a:p>
          <a:p>
            <a:r>
              <a:rPr lang="en-US" sz="6200" dirty="0" smtClean="0">
                <a:solidFill>
                  <a:srgbClr val="7030A0"/>
                </a:solidFill>
              </a:rPr>
              <a:t>Meal</a:t>
            </a:r>
          </a:p>
          <a:p>
            <a:r>
              <a:rPr lang="en-US" sz="6200" dirty="0" smtClean="0">
                <a:solidFill>
                  <a:srgbClr val="7030A0"/>
                </a:solidFill>
              </a:rPr>
              <a:t> ├── </a:t>
            </a:r>
            <a:r>
              <a:rPr lang="en-US" sz="6200" dirty="0" err="1" smtClean="0">
                <a:solidFill>
                  <a:srgbClr val="7030A0"/>
                </a:solidFill>
              </a:rPr>
              <a:t>userRef</a:t>
            </a:r>
            <a:endParaRPr lang="en-US" sz="6200" dirty="0" smtClean="0">
              <a:solidFill>
                <a:srgbClr val="7030A0"/>
              </a:solidFill>
            </a:endParaRPr>
          </a:p>
          <a:p>
            <a:r>
              <a:rPr lang="en-US" sz="6200" dirty="0" smtClean="0">
                <a:solidFill>
                  <a:srgbClr val="7030A0"/>
                </a:solidFill>
              </a:rPr>
              <a:t> ├── items[]</a:t>
            </a:r>
          </a:p>
          <a:p>
            <a:r>
              <a:rPr lang="en-US" sz="6200" dirty="0" smtClean="0">
                <a:solidFill>
                  <a:srgbClr val="7030A0"/>
                </a:solidFill>
              </a:rPr>
              <a:t> ├── calories</a:t>
            </a:r>
          </a:p>
          <a:p>
            <a:r>
              <a:rPr lang="en-US" sz="6200" dirty="0" smtClean="0">
                <a:solidFill>
                  <a:srgbClr val="7030A0"/>
                </a:solidFill>
              </a:rPr>
              <a:t> ├── macros { protein, </a:t>
            </a:r>
            <a:r>
              <a:rPr lang="en-US" sz="6200" dirty="0" err="1" smtClean="0">
                <a:solidFill>
                  <a:srgbClr val="7030A0"/>
                </a:solidFill>
              </a:rPr>
              <a:t>carbs</a:t>
            </a:r>
            <a:r>
              <a:rPr lang="en-US" sz="6200" dirty="0" smtClean="0">
                <a:solidFill>
                  <a:srgbClr val="7030A0"/>
                </a:solidFill>
              </a:rPr>
              <a:t>, fat }</a:t>
            </a:r>
          </a:p>
          <a:p>
            <a:endParaRPr lang="en-US" sz="6200" dirty="0" smtClean="0">
              <a:solidFill>
                <a:srgbClr val="7030A0"/>
              </a:solidFill>
            </a:endParaRPr>
          </a:p>
          <a:p>
            <a:r>
              <a:rPr lang="en-US" sz="6200" dirty="0" smtClean="0">
                <a:solidFill>
                  <a:srgbClr val="7030A0"/>
                </a:solidFill>
              </a:rPr>
              <a:t>Plan</a:t>
            </a:r>
          </a:p>
          <a:p>
            <a:r>
              <a:rPr lang="en-US" sz="6200" dirty="0" smtClean="0">
                <a:solidFill>
                  <a:srgbClr val="7030A0"/>
                </a:solidFill>
              </a:rPr>
              <a:t> ├── </a:t>
            </a:r>
            <a:r>
              <a:rPr lang="en-US" sz="6200" dirty="0" err="1" smtClean="0">
                <a:solidFill>
                  <a:srgbClr val="7030A0"/>
                </a:solidFill>
              </a:rPr>
              <a:t>userRef</a:t>
            </a:r>
            <a:endParaRPr lang="en-US" sz="6200" dirty="0" smtClean="0">
              <a:solidFill>
                <a:srgbClr val="7030A0"/>
              </a:solidFill>
            </a:endParaRPr>
          </a:p>
          <a:p>
            <a:r>
              <a:rPr lang="en-US" sz="6200" dirty="0" smtClean="0">
                <a:solidFill>
                  <a:srgbClr val="7030A0"/>
                </a:solidFill>
              </a:rPr>
              <a:t> ├── </a:t>
            </a:r>
            <a:r>
              <a:rPr lang="en-US" sz="6200" dirty="0" err="1" smtClean="0">
                <a:solidFill>
                  <a:srgbClr val="7030A0"/>
                </a:solidFill>
              </a:rPr>
              <a:t>goalType</a:t>
            </a:r>
            <a:endParaRPr lang="en-US" sz="6200" dirty="0" smtClean="0">
              <a:solidFill>
                <a:srgbClr val="7030A0"/>
              </a:solidFill>
            </a:endParaRPr>
          </a:p>
          <a:p>
            <a:r>
              <a:rPr lang="en-US" sz="6200" dirty="0" smtClean="0">
                <a:solidFill>
                  <a:srgbClr val="7030A0"/>
                </a:solidFill>
              </a:rPr>
              <a:t> ├── </a:t>
            </a:r>
            <a:r>
              <a:rPr lang="en-US" sz="6200" dirty="0" err="1" smtClean="0">
                <a:solidFill>
                  <a:srgbClr val="7030A0"/>
                </a:solidFill>
              </a:rPr>
              <a:t>dailyCalories</a:t>
            </a:r>
            <a:endParaRPr lang="en-US" sz="6200" dirty="0" smtClean="0">
              <a:solidFill>
                <a:srgbClr val="7030A0"/>
              </a:solidFill>
            </a:endParaRPr>
          </a:p>
          <a:p>
            <a:r>
              <a:rPr lang="en-US" sz="6200" dirty="0" smtClean="0">
                <a:solidFill>
                  <a:srgbClr val="7030A0"/>
                </a:solidFill>
              </a:rPr>
              <a:t> ├── macros</a:t>
            </a:r>
          </a:p>
          <a:p>
            <a:r>
              <a:rPr lang="en-US" sz="6200" dirty="0" smtClean="0">
                <a:solidFill>
                  <a:srgbClr val="7030A0"/>
                </a:solidFill>
              </a:rPr>
              <a:t> └── recommendations[]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Database Schema (Simplified ER View)</a:t>
            </a:r>
            <a:endParaRPr lang="en-US" dirty="0">
              <a:solidFill>
                <a:schemeClr val="accent5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4"/>
                </a:solidFill>
              </a:rPr>
              <a:t>Flexible document structure for dynamic nutrition data</a:t>
            </a:r>
          </a:p>
          <a:p>
            <a:r>
              <a:rPr lang="en-US" dirty="0" smtClean="0">
                <a:solidFill>
                  <a:schemeClr val="accent4"/>
                </a:solidFill>
              </a:rPr>
              <a:t>Cloud scalability and easy integration with Mongoose</a:t>
            </a:r>
          </a:p>
          <a:p>
            <a:r>
              <a:rPr lang="en-US" dirty="0" smtClean="0">
                <a:solidFill>
                  <a:schemeClr val="accent4"/>
                </a:solidFill>
              </a:rPr>
              <a:t>Ideal for storing user‑</a:t>
            </a:r>
            <a:r>
              <a:rPr lang="en-US" dirty="0" err="1" smtClean="0">
                <a:solidFill>
                  <a:schemeClr val="accent4"/>
                </a:solidFill>
              </a:rPr>
              <a:t>specific</a:t>
            </a:r>
            <a:r>
              <a:rPr lang="en-US" dirty="0" smtClean="0">
                <a:solidFill>
                  <a:schemeClr val="accent4"/>
                </a:solidFill>
              </a:rPr>
              <a:t> meal logs and AI‑</a:t>
            </a:r>
            <a:r>
              <a:rPr lang="en-US" dirty="0" err="1" smtClean="0">
                <a:solidFill>
                  <a:schemeClr val="accent4"/>
                </a:solidFill>
              </a:rPr>
              <a:t>generated</a:t>
            </a:r>
            <a:r>
              <a:rPr lang="en-US" dirty="0" smtClean="0">
                <a:solidFill>
                  <a:schemeClr val="accent4"/>
                </a:solidFill>
              </a:rPr>
              <a:t> plans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 </a:t>
            </a:r>
            <a:r>
              <a:rPr lang="en-US" b="1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Why </a:t>
            </a:r>
            <a:r>
              <a:rPr lang="en-US" b="1" dirty="0" err="1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US" b="1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 Atlas</a:t>
            </a:r>
            <a:br>
              <a:rPr lang="en-US" b="1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chemeClr val="accent5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4"/>
                </a:solidFill>
              </a:rPr>
              <a:t>Modular architecture</a:t>
            </a:r>
            <a:r>
              <a:rPr lang="en-US" dirty="0" smtClean="0">
                <a:solidFill>
                  <a:schemeClr val="accent4"/>
                </a:solidFill>
              </a:rPr>
              <a:t> for clean code organization</a:t>
            </a:r>
          </a:p>
          <a:p>
            <a:r>
              <a:rPr lang="en-US" b="1" dirty="0" smtClean="0">
                <a:solidFill>
                  <a:schemeClr val="accent4"/>
                </a:solidFill>
              </a:rPr>
              <a:t>Secure authentication</a:t>
            </a:r>
            <a:r>
              <a:rPr lang="en-US" dirty="0" smtClean="0">
                <a:solidFill>
                  <a:schemeClr val="accent4"/>
                </a:solidFill>
              </a:rPr>
              <a:t> with JWT and </a:t>
            </a:r>
            <a:r>
              <a:rPr lang="en-US" dirty="0" err="1" smtClean="0">
                <a:solidFill>
                  <a:schemeClr val="accent4"/>
                </a:solidFill>
              </a:rPr>
              <a:t>bcryptjs</a:t>
            </a:r>
            <a:endParaRPr lang="en-US" dirty="0" smtClean="0">
              <a:solidFill>
                <a:schemeClr val="accent4"/>
              </a:solidFill>
            </a:endParaRPr>
          </a:p>
          <a:p>
            <a:r>
              <a:rPr lang="en-US" b="1" dirty="0" smtClean="0">
                <a:solidFill>
                  <a:schemeClr val="accent4"/>
                </a:solidFill>
              </a:rPr>
              <a:t>Scalable database</a:t>
            </a:r>
            <a:r>
              <a:rPr lang="en-US" dirty="0" smtClean="0">
                <a:solidFill>
                  <a:schemeClr val="accent4"/>
                </a:solidFill>
              </a:rPr>
              <a:t> using </a:t>
            </a:r>
            <a:r>
              <a:rPr lang="en-US" dirty="0" err="1" smtClean="0">
                <a:solidFill>
                  <a:schemeClr val="accent4"/>
                </a:solidFill>
              </a:rPr>
              <a:t>MongoDB</a:t>
            </a:r>
            <a:r>
              <a:rPr lang="en-US" dirty="0" smtClean="0">
                <a:solidFill>
                  <a:schemeClr val="accent4"/>
                </a:solidFill>
              </a:rPr>
              <a:t> Atlas</a:t>
            </a:r>
          </a:p>
          <a:p>
            <a:r>
              <a:rPr lang="en-US" b="1" dirty="0" smtClean="0">
                <a:solidFill>
                  <a:schemeClr val="accent4"/>
                </a:solidFill>
              </a:rPr>
              <a:t>Cross‑</a:t>
            </a:r>
            <a:r>
              <a:rPr lang="en-US" b="1" dirty="0" err="1" smtClean="0">
                <a:solidFill>
                  <a:schemeClr val="accent4"/>
                </a:solidFill>
              </a:rPr>
              <a:t>origin</a:t>
            </a:r>
            <a:r>
              <a:rPr lang="en-US" b="1" dirty="0" smtClean="0">
                <a:solidFill>
                  <a:schemeClr val="accent4"/>
                </a:solidFill>
              </a:rPr>
              <a:t> support</a:t>
            </a:r>
            <a:r>
              <a:rPr lang="en-US" dirty="0" smtClean="0">
                <a:solidFill>
                  <a:schemeClr val="accent4"/>
                </a:solidFill>
              </a:rPr>
              <a:t> via </a:t>
            </a:r>
            <a:r>
              <a:rPr lang="en-US" dirty="0" err="1" smtClean="0">
                <a:solidFill>
                  <a:schemeClr val="accent4"/>
                </a:solidFill>
              </a:rPr>
              <a:t>cors</a:t>
            </a:r>
            <a:r>
              <a:rPr lang="en-US" dirty="0" smtClean="0">
                <a:solidFill>
                  <a:schemeClr val="accent4"/>
                </a:solidFill>
              </a:rPr>
              <a:t> for client‑server communication</a:t>
            </a:r>
          </a:p>
          <a:p>
            <a:r>
              <a:rPr lang="en-US" b="1" dirty="0" smtClean="0">
                <a:solidFill>
                  <a:schemeClr val="accent4"/>
                </a:solidFill>
              </a:rPr>
              <a:t>Environment isolation</a:t>
            </a:r>
            <a:r>
              <a:rPr lang="en-US" dirty="0" smtClean="0">
                <a:solidFill>
                  <a:schemeClr val="accent4"/>
                </a:solidFill>
              </a:rPr>
              <a:t> using </a:t>
            </a:r>
            <a:r>
              <a:rPr lang="en-US" dirty="0" err="1" smtClean="0">
                <a:solidFill>
                  <a:schemeClr val="accent4"/>
                </a:solidFill>
              </a:rPr>
              <a:t>dotenv</a:t>
            </a:r>
            <a:endParaRPr lang="en-US" dirty="0" smtClean="0">
              <a:solidFill>
                <a:schemeClr val="accent4"/>
              </a:solidFill>
            </a:endParaRP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sz="4000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Advantages</a:t>
            </a:r>
            <a:endParaRPr lang="en-US" sz="4000" dirty="0">
              <a:solidFill>
                <a:schemeClr val="accent5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4"/>
                </a:solidFill>
              </a:rPr>
              <a:t>Integrate AI‑</a:t>
            </a:r>
            <a:r>
              <a:rPr lang="en-US" dirty="0" err="1" smtClean="0">
                <a:solidFill>
                  <a:schemeClr val="accent4"/>
                </a:solidFill>
              </a:rPr>
              <a:t>based</a:t>
            </a:r>
            <a:r>
              <a:rPr lang="en-US" dirty="0" smtClean="0">
                <a:solidFill>
                  <a:schemeClr val="accent4"/>
                </a:solidFill>
              </a:rPr>
              <a:t> meal recommendation engine</a:t>
            </a:r>
          </a:p>
          <a:p>
            <a:r>
              <a:rPr lang="en-US" dirty="0" smtClean="0">
                <a:solidFill>
                  <a:schemeClr val="accent4"/>
                </a:solidFill>
              </a:rPr>
              <a:t>Add real‑time analytics dashboard for </a:t>
            </a:r>
            <a:r>
              <a:rPr lang="en-US" dirty="0" err="1" smtClean="0">
                <a:solidFill>
                  <a:schemeClr val="accent4"/>
                </a:solidFill>
              </a:rPr>
              <a:t>admins</a:t>
            </a:r>
            <a:endParaRPr lang="en-US" dirty="0" smtClean="0">
              <a:solidFill>
                <a:schemeClr val="accent4"/>
              </a:solidFill>
            </a:endParaRPr>
          </a:p>
          <a:p>
            <a:r>
              <a:rPr lang="en-US" dirty="0" smtClean="0">
                <a:solidFill>
                  <a:schemeClr val="accent4"/>
                </a:solidFill>
              </a:rPr>
              <a:t>Implement push notifications for meal reminders</a:t>
            </a:r>
          </a:p>
          <a:p>
            <a:r>
              <a:rPr lang="en-US" dirty="0" smtClean="0">
                <a:solidFill>
                  <a:schemeClr val="accent4"/>
                </a:solidFill>
              </a:rPr>
              <a:t>Deploy backend on cloud (Render / AWS / Azure)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Future Scope</a:t>
            </a:r>
            <a:endParaRPr lang="en-US" sz="4000" dirty="0">
              <a:solidFill>
                <a:schemeClr val="accent5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4"/>
                </a:solidFill>
              </a:rPr>
              <a:t>The </a:t>
            </a:r>
            <a:r>
              <a:rPr lang="en-US" b="1" dirty="0" smtClean="0">
                <a:solidFill>
                  <a:schemeClr val="accent4"/>
                </a:solidFill>
              </a:rPr>
              <a:t>Nutrition Assistant backend</a:t>
            </a:r>
            <a:r>
              <a:rPr lang="en-US" dirty="0" smtClean="0">
                <a:solidFill>
                  <a:schemeClr val="accent4"/>
                </a:solidFill>
              </a:rPr>
              <a:t> is a robust, secure, and scalable system built on Node.js, Express.js, and </a:t>
            </a:r>
            <a:r>
              <a:rPr lang="en-US" dirty="0" err="1" smtClean="0">
                <a:solidFill>
                  <a:schemeClr val="accent4"/>
                </a:solidFill>
              </a:rPr>
              <a:t>MongoDB</a:t>
            </a:r>
            <a:r>
              <a:rPr lang="en-US" dirty="0" smtClean="0">
                <a:solidFill>
                  <a:schemeClr val="accent4"/>
                </a:solidFill>
              </a:rPr>
              <a:t>. </a:t>
            </a:r>
          </a:p>
          <a:p>
            <a:r>
              <a:rPr lang="en-US" dirty="0" smtClean="0">
                <a:solidFill>
                  <a:schemeClr val="accent4"/>
                </a:solidFill>
              </a:rPr>
              <a:t>It supports authentication, meal tracking, nutrition planning, and admin management — forming the backbone of a personalized health platform.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5"/>
                </a:solidFill>
              </a:rPr>
              <a:t> </a:t>
            </a:r>
            <a:r>
              <a:rPr lang="en-US" sz="4000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4000" dirty="0">
              <a:solidFill>
                <a:schemeClr val="accent5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73</TotalTime>
  <Words>730</Words>
  <Application>Microsoft Office PowerPoint</Application>
  <PresentationFormat>On-screen Show (4:3)</PresentationFormat>
  <Paragraphs>131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Concourse</vt:lpstr>
      <vt:lpstr>NUTRITION ASSISTANT</vt:lpstr>
      <vt:lpstr>Presentation Outline </vt:lpstr>
      <vt:lpstr>BACKEND OVERVIEW</vt:lpstr>
      <vt:lpstr>Technology Stack</vt:lpstr>
      <vt:lpstr>Folder Structure</vt:lpstr>
      <vt:lpstr> Backend Architecture Flow</vt:lpstr>
      <vt:lpstr> Controllers Layer</vt:lpstr>
      <vt:lpstr>Middleware Layer</vt:lpstr>
      <vt:lpstr>Models Layer</vt:lpstr>
      <vt:lpstr>API Endpoints Overview</vt:lpstr>
      <vt:lpstr> Authentication Flow (JWT + bcryptjs)</vt:lpstr>
      <vt:lpstr>Database Schema (Simplified ER View)</vt:lpstr>
      <vt:lpstr> Why MongoDB Atlas </vt:lpstr>
      <vt:lpstr> Advantages</vt:lpstr>
      <vt:lpstr>Future Scope</vt:lpstr>
      <vt:lpstr> Conclusion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NUTRITION ASSISTANT</dc:title>
  <dc:creator>srinivasulu eavetop</dc:creator>
  <cp:lastModifiedBy>srinivasulu eavetop</cp:lastModifiedBy>
  <cp:revision>7</cp:revision>
  <dcterms:created xsi:type="dcterms:W3CDTF">2026-07-19T17:15:02Z</dcterms:created>
  <dcterms:modified xsi:type="dcterms:W3CDTF">2026-07-19T18:28:55Z</dcterms:modified>
</cp:coreProperties>
</file>